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งานปฏิบัติการกลุ่ม  ·  กลุ่มที่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Browser Navigation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Two-Stack Method  vs  ArrayList + Current Index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292608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69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การออกแบบและวิเคราะห์อัลกอริทึมด้วย Stack โดยใช้ภาษา Java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สมาชิกกลุ่ม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นายธนโชติ กสิกิจกรกุล  68122250097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นายณัฐดนัย ลิ้มธรรมรงค์  66122250037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นายพงษ์นรินทร์ โคตรวงษ์ทอง  68122250015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นายภูวสิษฏ์ ปั้นดี  67122250042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47548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นายมณเฑียร พุทธเสน  68122250063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นายณัฐวุฒิ ชมภูวิเศษ  67122250014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นางสาวพัชราภรณ์ โป้สูงเนิน  67122250065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0" y="4709160"/>
            <a:ext cx="30632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4709160"/>
            <a:ext cx="3063240" cy="3108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8430768" y="4809744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4809744"/>
            <a:ext cx="100584" cy="10058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6" name="Shape 14"/>
          <p:cNvSpPr/>
          <p:nvPr/>
        </p:nvSpPr>
        <p:spPr>
          <a:xfrm>
            <a:off x="8759952" y="4809744"/>
            <a:ext cx="100584" cy="100584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5120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  &gt;   ▢  example.com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58200" y="5532120"/>
            <a:ext cx="2194560" cy="128016"/>
          </a:xfrm>
          <a:prstGeom prst="rect">
            <a:avLst/>
          </a:prstGeom>
          <a:solidFill>
            <a:srgbClr val="E1E7EF"/>
          </a:solidFill>
          <a:ln/>
        </p:spPr>
      </p:sp>
      <p:sp>
        <p:nvSpPr>
          <p:cNvPr id="19" name="Shape 17"/>
          <p:cNvSpPr/>
          <p:nvPr/>
        </p:nvSpPr>
        <p:spPr>
          <a:xfrm>
            <a:off x="8458200" y="5742432"/>
            <a:ext cx="2651760" cy="128016"/>
          </a:xfrm>
          <a:prstGeom prst="rect">
            <a:avLst/>
          </a:prstGeom>
          <a:solidFill>
            <a:srgbClr val="E1E7EF"/>
          </a:solidFill>
          <a:ln/>
        </p:spPr>
      </p:sp>
      <p:sp>
        <p:nvSpPr>
          <p:cNvPr id="20" name="Shape 18"/>
          <p:cNvSpPr/>
          <p:nvPr/>
        </p:nvSpPr>
        <p:spPr>
          <a:xfrm>
            <a:off x="8458200" y="5952744"/>
            <a:ext cx="1645920" cy="128016"/>
          </a:xfrm>
          <a:prstGeom prst="rect">
            <a:avLst/>
          </a:prstGeom>
          <a:solidFill>
            <a:srgbClr val="E1E7E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โจทย์: ระบบ Browser Navigation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F4F7FA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สถานการณ์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ระบบ Browser ต้องรองรับการเปิดหน้าเว็บใหม่ การย้อนกลับ (Back) และการไปข้างหน้า (Forward)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เมื่อผู้ใช้กด Back แล้วเปิดหน้าใหม่ ประวัติของหน้า Forward ต้องถูกล้างทิ้งทันที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ข้อมูลของแต่ละหน้า: Page ID, Page Title, URL, Visited 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คำสั่งที่ต้องรองรับ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4434840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348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page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4434840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44348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0" y="4434840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44348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5001768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017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5001768"/>
            <a:ext cx="1874520" cy="438912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50017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HISTORY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52360" y="137160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Invariant สำคัญ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0" y="21488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เมื่อ VISIT หน้าใหม่หลังจาก Back มา ถือว่าเป็นการสร้าง “สายใหม่” (new branch) — สาย Forward เดิมจึงไม่ถูกต้องอีกต่อไป และต้องถูกล้างทิ้งทั้งหมด เหมือนพฤติกรรมจริงของ Browser ทั่วไป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772400" y="4251960"/>
            <a:ext cx="3566160" cy="0"/>
          </a:xfrm>
          <a:prstGeom prst="line">
            <a:avLst/>
          </a:prstGeom>
          <a:noFill/>
          <a:ln w="12700">
            <a:solidFill>
              <a:srgbClr val="3E4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4434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A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A → B → C → Back → Back → Visit D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A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[B,C] ถูกล้างทิ้งทันทีที่ Visit 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Input, Output และ Constraints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7FA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Input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คำสั่ง VISIT/BACK/FORWARD/CURRENT/DISPLAY ทีละคำสั่ง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ข้อมูลหน้า: Page ID, Title, URL, Visited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7FA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737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4924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Output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2423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Current Page, Back History, Forward History หลังทุกคำสั่ง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ค่า true/false ของ BACK และ FORWARD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141732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4F7FA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17373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Constraints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49640" y="24231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 ไม่ได้เมื่อไม่มีหน้าก่อนหน้า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FORWARD ไม่ได้เมื่อไม่มีหน้าถัดไป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VISIT ต้องล้าง Forward History ทันที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รองรับประวัติได้ถึงระดับแสนหน้า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Two-Stack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แนวคิดหลัก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backStack เก็บหน้าก่อน currentPage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forwardStack เก็บหน้าที่ถูก Back ออกมา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VISIT ใหม่ → push current เดิมลง backStack แล้วล้าง forwardStack ทิ้งทั้งหมด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BACK/FORWARD → สลับ push/pop ระหว่างสอง Stack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48463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D834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ข้อดี: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BACK/FORWARD เป็น O(1) เสมอ ตรงกับพฤติกรรม LIFO ตามธรรมชาติ
</a:t>
            </a:r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03A2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ข้อจำกัด: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VISIT หลัง Back มาไกล ต้องล้าง forwardStack ได้ถึง O(n)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Pseudocode: Visit()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IF currentPage ≠ null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   backStack.push(currentPage)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WHILE forwardStack not empty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   forwardStack.pop()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currentPage ← newPage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29400" y="3657600"/>
            <a:ext cx="4663440" cy="0"/>
          </a:xfrm>
          <a:prstGeom prst="line">
            <a:avLst/>
          </a:prstGeom>
          <a:noFill/>
          <a:ln w="12700">
            <a:solidFill>
              <a:srgbClr val="3E4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Time / Space Complexity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41605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  O(1) amortized / O(n) worst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   O(1)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O(1)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  O(n)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ArrayList + Current Index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แนวคิดหลัก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historyList เก็บทุกหน้าของสายปัจจุบัน เรียงตามเวลา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currentIndex ชี้ตำแหน่งหน้าปัจจุบัน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VISIT ใหม่ → ตัด element หลัง currentIndex ทิ้ง แล้วเพิ่มหน้าใหม่ต่อท้าย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●"/>
            </a:pPr>
            <a:r>
              <a:rPr lang="en-US" sz="14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BACK/FORWARD → ขยับ currentIndex ถอยหน้า/เดินหน้า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48463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D834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ข้อดี: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โครงสร้างเดียว เข้าถึงหน้าใด ๆ ด้วย index ได้โดยตรง (random access)
</a:t>
            </a:r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B03A2E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ข้อจำกัด: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การตัด list ท้าย (removeRange) มี overhead ภายในสูงกว่า Two-Stack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Pseudocode: Visit()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removed ← size - (currentIndex+1)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IF removed &gt; 0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   ลบ element ท้าย list ออก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historyList.add(newPage)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currentIndex ← currentIndex + 1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29400" y="3657600"/>
            <a:ext cx="4663440" cy="0"/>
          </a:xfrm>
          <a:prstGeom prst="line">
            <a:avLst/>
          </a:prstGeom>
          <a:noFill/>
          <a:ln w="12700">
            <a:solidFill>
              <a:srgbClr val="3E4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Time / Space Complexity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41605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   O(1) amortized / O(n) worst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    O(1)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 O(1)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B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  O(n)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ตัวอย่างการทำงาน (Algorithm 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ชุดคำสั่งบังคับ: VISIT A, VISIT B, VISIT C, BACK, BACK, FORWARD, VISIT D, BACK, FORWARD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48056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1463040"/>
                <a:gridCol w="3108960"/>
                <a:gridCol w="3566160"/>
              </a:tblGrid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Step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คำสั่ง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Current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Back Stack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Forward Stack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 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(empty)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(empty)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 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[A]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(empty)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 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[B, A]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(empty)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[A]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[C]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(empty)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[B, C]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FORWARD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[A]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[C]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 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[B, A]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03A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(empty) ← ล้าง Forward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[A]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[D]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FORWARD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[B, A]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(empty)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ARGUMENT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การพิสูจน์ความถูกต้อง (Algorithm 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แนวทาง: Precondition / Postcondition ร่วมกับ Loop Invariant (ขั้นตอนล้าง forwardStack)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39696" cy="39319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67028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36702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Precondition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17739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backStack/forwardStack เป็น Stack ที่ถูกต้อง (LIFO) และ currentPage เป็นหน้าปัจจุบันหรือ null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25496" y="1691640"/>
            <a:ext cx="2139696" cy="39319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43884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64388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62656" y="25603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Invariant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08376" y="3200400"/>
            <a:ext cx="17739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ระหว่างวน pop ล้าง forwardStack element ที่เหลือยังคงลำดับเดิมครบถ้วน ไม่มีการสูญหาย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02352" y="1691640"/>
            <a:ext cx="2139696" cy="39319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20740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9207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39512" y="25603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Postcondition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85232" y="3200400"/>
            <a:ext cx="17739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เมื่อ VISIT จบ: currentPage = newPage, forwardStack ว่าง, backStack มี current เดิมอยู่บนสุด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79208" y="1691640"/>
            <a:ext cx="2139696" cy="39319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97596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819759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516368" y="25603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ไม่กระทบข้อมูลอื่น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62088" y="3200400"/>
            <a:ext cx="17739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push/pop กระทำที่ปลาย Stack ด้านเดียว (LIFO) จึงไม่แทรก/สลับลำดับ element อื่น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56064" y="1691640"/>
            <a:ext cx="2139696" cy="393192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474452" y="1920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1047445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93224" y="256032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การยุติ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38944" y="3200400"/>
            <a:ext cx="17739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operation ทุกตัวมี push/pop จำนวนจำกัด (≤ ขนาด Stack ขณะนั้น) จึงยุติเสมอ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Time &amp; Space Complexity ของทุกฟังก์ชัน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63840" cy="292608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737360"/>
                <a:gridCol w="1280160"/>
                <a:gridCol w="109728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Function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Best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Average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Worst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Aux. Space</a:t>
                      </a:r>
                      <a:endParaRPr lang="en-US" sz="15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 amortized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O(1)/ครั้ง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BACK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FORWARD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CURRENT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DISPLAY HISTORY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463040"/>
            <a:ext cx="3017520" cy="4846320"/>
          </a:xfrm>
          <a:prstGeom prst="roundRect">
            <a:avLst>
              <a:gd name="adj" fmla="val 2424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1540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6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 VISIT เป็น O(1) amortized?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915400" y="251460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แต่ละหน้าใน forwardStack ถูก pop ทิ้งได้อย่างมากหนึ่งครั้งก่อนหายไปตลอดกาล งานรวมตลอดลำดับ operation จึงแปรผันเชิงเส้นกับจำนวน operation ทั้งหมด ทำให้ต้นทุนเฉลี่ยต่อครั้งคือ O(1)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915400" y="4754880"/>
            <a:ext cx="2468880" cy="0"/>
          </a:xfrm>
          <a:prstGeom prst="line">
            <a:avLst/>
          </a:prstGeom>
          <a:noFill/>
          <a:ln w="12700">
            <a:solidFill>
              <a:srgbClr val="3E4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15400" y="49377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9AB4E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ห้ามสรุปแค่ push()/pop() = O(1) ต้องวิเคราะห์ทุกฟังก์ชันของระบบ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โครงสร้างคลาสของโปรแกรม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9144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64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Data Model: pageId, title, url, visitedTime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554480"/>
            <a:ext cx="91440" cy="1417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64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BrowserHistory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«interface»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2402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visit(), back(), forward(), current(), displayHistory()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554480"/>
            <a:ext cx="91440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664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TwoStackHistory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2402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Algorithm A — ArrayDeque×2 (backStack, forwardStack)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46120"/>
            <a:ext cx="91440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55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ArrayListHistory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Algorithm B — ArrayList + currentIndex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246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246120"/>
            <a:ext cx="9144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3355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Main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3931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เมนูรับคำสั่ง, Input Validation, SWITCH A|B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32461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3246120"/>
            <a:ext cx="9144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3355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TestCases / ExperimentRunner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3931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รัน 8 Test Cases และการทดลองประสิทธิภาพ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BrowserHistory (interface) → นำไปใช้โดย TwoStackHistory และ ArrayListHistory (polymorphism) เพื่อให้ Main เรียกใช้งานแบบเดียวกัน และเปรียบเทียบผลลัพธ์ได้อย่างยุติธรรม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ผลการทดสอบ 8 กรณีบังคับ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503920" cy="4663440"/>
        </p:xfrm>
        <a:graphic>
          <a:graphicData uri="http://schemas.openxmlformats.org/drawingml/2006/table">
            <a:tbl>
              <a:tblPr/>
              <a:tblGrid>
                <a:gridCol w="548640"/>
                <a:gridCol w="4846320"/>
                <a:gridCol w="1554480"/>
                <a:gridCol w="1554480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#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Test Case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A: Two-Stack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B: ArrayList</a:t>
                      </a:r>
                      <a:endParaRPr lang="en-US" sz="14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Back เมื่อไม่มีหน้าก่อนหน้า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Forward เมื่อไม่มีหน้าถัดไป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3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เปิดหน้าแรก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4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เปิดหน้าเดิมซ้ำ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5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Back หลายครั้ง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Forward หลายครั้ง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7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Back แล้วเปิดหน้าใหม่ (ล้าง Forward)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8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C2530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ประวัติจำนวนมาก (n=20,000)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D8348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PASS</a:t>
                      </a:r>
                      <a:endParaRPr lang="en-US" sz="135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281160" y="1463040"/>
            <a:ext cx="2377440" cy="4663440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281160" y="2286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18 / 18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2811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PASS ทั้งหมด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464040" y="374904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AB4E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(8 กรณี × 2 อัลกอริทึม + การตรวจสถานะเริ่มต้น)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ผลการทดลองประสิทธิภาพ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4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สร้างประวัติ n หน้า → Back ไปกึ่งกลาง → VISIT หน้าใหม่ → วัดเวลาล้าง Forward History (เฉลี่ย 5 รอบ)</a:t>
            </a:r>
            <a:endParaRPr lang="en-US" sz="1400" dirty="0"/>
          </a:p>
        </p:txBody>
      </p:sp>
      <p:pic>
        <p:nvPicPr>
          <p:cNvPr id="5" name="Image 0" descr="experiment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309360" cy="40690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00200"/>
          <a:ext cx="4480560" cy="192024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n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A (ns)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B (ns)</a:t>
                      </a:r>
                      <a:endParaRPr lang="en-US" sz="13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3,028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12,934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7,594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67,297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14,434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546,381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100,000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17,505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C25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247,073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178040" y="3794760"/>
            <a:ext cx="4480560" cy="1874520"/>
          </a:xfrm>
          <a:prstGeom prst="roundRect">
            <a:avLst>
              <a:gd name="adj" fmla="val 3902"/>
            </a:avLst>
          </a:prstGeom>
          <a:solidFill>
            <a:srgbClr val="F4F7FA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C253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452360" y="40233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C253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Two-Stack เร็วกว่า ArrayList 4–35 เท่า แม้ทั้งคู่จะเป็น O(n) เท่ากัน — Big-O บอกอัตราการเติบโต แต่ไม่บอกค่าคงที่ (constant factor) ของการทำงานจริง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สรุปและวิธีที่กลุ่มเลือก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E3EC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ทั้งสองอัลกอริทึมแก้ปัญหาเดียวกันและให้ผลลัพธ์ถูกต้องตรงกันทุก Test Case (18/18 PASS)</a:t>
            </a:r>
            <a:endParaRPr lang="en-US" sz="1550" dirty="0"/>
          </a:p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E3EC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Time Complexity ระดับเดียวกัน: O(1) amortized สำหรับ VISIT, O(1) worst-case สำหรับ BACK/FORWARD</a:t>
            </a:r>
            <a:endParaRPr lang="en-US" sz="1550" dirty="0"/>
          </a:p>
          <a:p>
            <a:pPr marL="342900" indent="-342900">
              <a:lnSpc>
                <a:spcPts val="26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E3ECF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ผลทดลองจริงแสดงว่า Two-Stack มีค่าคงที่ (constant factor) ต่ำกว่าอย่างชัดเจนในทุกขนาดข้อมูล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6217920" cy="1920240"/>
          </a:xfrm>
          <a:prstGeom prst="roundRect">
            <a:avLst>
              <a:gd name="adj" fmla="val 381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389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6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วิธีที่กลุ่มเลือก: Two-Stack Method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4846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เหมาะสมกว่าสำหรับ Browser History เพราะโครงสร้างสอดคล้องกับพฤติกรรม Back/Forward แบบ LIFO โดยตรง และให้เวลาทำงานจริงเร็วกว่าอย่างสม่ำเสมอ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554480"/>
            <a:ext cx="4206240" cy="4526280"/>
          </a:xfrm>
          <a:prstGeom prst="roundRect">
            <a:avLst>
              <a:gd name="adj" fmla="val 1739"/>
            </a:avLst>
          </a:prstGeom>
          <a:solidFill>
            <a:srgbClr val="1A2150"/>
          </a:solidFill>
          <a:ln w="12700">
            <a:solidFill>
              <a:srgbClr val="1A2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ไฟล์ที่ต้องส่ง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0" y="224028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Source Code Java + GitHub Repository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 PDF และสไลด์นำเสนอ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Pseudocode, Flowchart, Class Diagram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Test Case Table + ไฟล์ผลการทดลอง/กราฟ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AI Usage Log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รายงานการแบ่งงานของสมาชิก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2026-08-17T13:09:49Z</dcterms:created>
  <dcterms:modified xsi:type="dcterms:W3CDTF">2026-08-17T13:09:49Z</dcterms:modified>
</cp:coreProperties>
</file>